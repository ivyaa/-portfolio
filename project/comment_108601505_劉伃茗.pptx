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" initials="a" lastIdx="8" clrIdx="0">
    <p:extLst>
      <p:ext uri="{19B8F6BF-5375-455C-9EA6-DF929625EA0E}">
        <p15:presenceInfo xmlns:p15="http://schemas.microsoft.com/office/powerpoint/2012/main" userId="d35d6d8e068a88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2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20:42:43.970" idx="3">
    <p:pos x="2611" y="2095"/>
    <p:text>搭配假資料看的時候有個疑問。這邊寫說一份訂單只能有一個ID，可是假資料在訂單細節那部分，同時ID為1的訂單有兩種，這樣不是代表不同訂單嗎？為什麼ID是一樣的呢？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03T20:50:23.599" idx="5">
    <p:pos x="5351" y="2086"/>
    <p:text>是否含運費呢？</p:text>
    <p:extLst>
      <p:ext uri="{C676402C-5697-4E1C-873F-D02D1690AC5C}">
        <p15:threadingInfo xmlns:p15="http://schemas.microsoft.com/office/powerpoint/2012/main" timeZoneBias="-480"/>
      </p:ext>
    </p:extLst>
  </p:cm>
  <p:cm authorId="1" dt="2021-06-03T20:51:21.629" idx="6">
    <p:pos x="3145" y="2285"/>
    <p:text>這個有強制嗎？還是想填、不想填，或只填餐廳或外送員這些情況都允許？我知道現實事都可以啦～想問問題目有限制在哪一種情況嗎？</p:text>
    <p:extLst>
      <p:ext uri="{C676402C-5697-4E1C-873F-D02D1690AC5C}">
        <p15:threadingInfo xmlns:p15="http://schemas.microsoft.com/office/powerpoint/2012/main" timeZoneBias="-480"/>
      </p:ext>
    </p:extLst>
  </p:cm>
  <p:cm authorId="1" dt="2021-06-03T20:59:51.973" idx="7">
    <p:pos x="5564" y="280"/>
    <p:text>在這份報告中的時間與日期，是可以自行輸入，還是依照現行時間讓寫出來的程式自己去偵測呢？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ada3c4e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ada3c4e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ada3c4e1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ada3c4e1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ada3c4e1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ada3c4e1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e3512b8a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e3512b8a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af4787ac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af4787ac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cff1ddea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cff1ddea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餐點加外送費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還是餐點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8068" y="393267"/>
            <a:ext cx="8520600" cy="1627262"/>
          </a:xfrm>
        </p:spPr>
        <p:txBody>
          <a:bodyPr>
            <a:normAutofit/>
          </a:bodyPr>
          <a:lstStyle/>
          <a:p>
            <a:pPr algn="l"/>
            <a:r>
              <a:rPr lang="zh-TW" altLang="en-US" dirty="0" smtClean="0"/>
              <a:t>第</a:t>
            </a:r>
            <a:r>
              <a:rPr lang="en-US" altLang="zh-TW" dirty="0" smtClean="0"/>
              <a:t>7</a:t>
            </a:r>
            <a:r>
              <a:rPr lang="zh-TW" altLang="en-US" dirty="0" smtClean="0"/>
              <a:t>頁－</a:t>
            </a:r>
            <a:r>
              <a:rPr lang="en-US" altLang="zh-TW" dirty="0" smtClean="0"/>
              <a:t>1</a:t>
            </a:r>
            <a:r>
              <a:rPr lang="zh-TW" altLang="en-US" dirty="0" smtClean="0"/>
              <a:t>個</a:t>
            </a:r>
            <a:endParaRPr lang="en-US" altLang="zh-TW" dirty="0" smtClean="0"/>
          </a:p>
          <a:p>
            <a:pPr algn="l"/>
            <a:r>
              <a:rPr lang="zh-TW" altLang="en-US" dirty="0"/>
              <a:t>第</a:t>
            </a:r>
            <a:r>
              <a:rPr lang="en-US" altLang="zh-TW" dirty="0"/>
              <a:t>8</a:t>
            </a:r>
            <a:r>
              <a:rPr lang="zh-TW" altLang="en-US" dirty="0" smtClean="0"/>
              <a:t>頁－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301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DB_Final_Project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202124"/>
                </a:solidFill>
                <a:highlight>
                  <a:srgbClr val="FFFFFF"/>
                </a:highlight>
              </a:rPr>
              <a:t>Food Delivery Platform</a:t>
            </a:r>
            <a:endParaRPr sz="2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Scenario</a:t>
            </a:r>
            <a:r>
              <a:rPr lang="zh-TW"/>
              <a:t>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rgbClr val="434343"/>
                </a:solidFill>
              </a:rPr>
              <a:t>George wants to built up a </a:t>
            </a:r>
            <a:r>
              <a:rPr lang="zh-TW" sz="1500" b="1" dirty="0">
                <a:solidFill>
                  <a:srgbClr val="434343"/>
                </a:solidFill>
              </a:rPr>
              <a:t>food delivery platform</a:t>
            </a:r>
            <a:r>
              <a:rPr lang="zh-TW" sz="1500" dirty="0">
                <a:solidFill>
                  <a:srgbClr val="434343"/>
                </a:solidFill>
              </a:rPr>
              <a:t>. The order establishment process of this delivery platform is as follows:</a:t>
            </a:r>
            <a:endParaRPr sz="15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AutoNum type="arabicParenBoth"/>
            </a:pPr>
            <a:r>
              <a:rPr lang="zh-TW" sz="1500" dirty="0">
                <a:solidFill>
                  <a:srgbClr val="434343"/>
                </a:solidFill>
              </a:rPr>
              <a:t>After the member logs in to the system and confirm the location of the member, the system will display restaurants within a radius of </a:t>
            </a:r>
            <a:r>
              <a:rPr lang="zh-TW" sz="1500" dirty="0">
                <a:solidFill>
                  <a:srgbClr val="FF0000"/>
                </a:solidFill>
              </a:rPr>
              <a:t>20</a:t>
            </a:r>
            <a:r>
              <a:rPr lang="zh-TW" sz="1500" dirty="0">
                <a:solidFill>
                  <a:srgbClr val="434343"/>
                </a:solidFill>
              </a:rPr>
              <a:t> distances.</a:t>
            </a:r>
            <a:endParaRPr sz="1500" dirty="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AutoNum type="arabicParenBoth"/>
            </a:pPr>
            <a:r>
              <a:rPr lang="zh-TW" sz="1500" dirty="0">
                <a:solidFill>
                  <a:srgbClr val="434343"/>
                </a:solidFill>
              </a:rPr>
              <a:t>The member starts to select the desired meals, input the coupon code selectively and sends out the order</a:t>
            </a:r>
            <a:endParaRPr sz="1500" dirty="0">
              <a:solidFill>
                <a:srgbClr val="434343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rgbClr val="434343"/>
                </a:solidFill>
              </a:rPr>
              <a:t>(note that we only provide cash payment)</a:t>
            </a:r>
            <a:endParaRPr sz="1500" dirty="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AutoNum type="arabicParenBoth"/>
            </a:pPr>
            <a:r>
              <a:rPr lang="zh-TW" sz="1500" dirty="0">
                <a:solidFill>
                  <a:srgbClr val="434343"/>
                </a:solidFill>
              </a:rPr>
              <a:t>The establishment of an order requires confirmation of two things: </a:t>
            </a:r>
            <a:endParaRPr sz="1500" dirty="0">
              <a:solidFill>
                <a:srgbClr val="434343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rgbClr val="434343"/>
                </a:solidFill>
              </a:rPr>
              <a:t>a. Confirm that the store accepts the order</a:t>
            </a:r>
            <a:endParaRPr sz="1500" dirty="0">
              <a:solidFill>
                <a:srgbClr val="434343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rgbClr val="434343"/>
                </a:solidFill>
              </a:rPr>
              <a:t>b. Confirm the deliveryman of the order</a:t>
            </a:r>
            <a:endParaRPr sz="1500" dirty="0">
              <a:solidFill>
                <a:srgbClr val="434343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AutoNum type="arabicParenBoth"/>
            </a:pPr>
            <a:r>
              <a:rPr lang="zh-TW" sz="1500" dirty="0">
                <a:solidFill>
                  <a:srgbClr val="434343"/>
                </a:solidFill>
              </a:rPr>
              <a:t>Members may leave reviews on the order (comment on the restaurant and the deliveryman), </a:t>
            </a:r>
            <a:endParaRPr sz="1500" dirty="0">
              <a:solidFill>
                <a:srgbClr val="434343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rgbClr val="434343"/>
                </a:solidFill>
              </a:rPr>
              <a:t>The scoring range is 1-5 points</a:t>
            </a:r>
            <a:endParaRPr sz="15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500" dirty="0">
              <a:solidFill>
                <a:srgbClr val="434343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221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 b="1"/>
              <a:t>Scenario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7941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76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60"/>
              <a:buChar char="●"/>
            </a:pPr>
            <a:r>
              <a:rPr lang="zh-TW" sz="1560" dirty="0">
                <a:solidFill>
                  <a:srgbClr val="434343"/>
                </a:solidFill>
              </a:rPr>
              <a:t>Delivery fee : The delivery fee is calculated based on the location of the member's location and the location of the store. </a:t>
            </a:r>
            <a:r>
              <a:rPr lang="zh-TW" sz="1560" dirty="0">
                <a:solidFill>
                  <a:srgbClr val="FF0000"/>
                </a:solidFill>
              </a:rPr>
              <a:t>Different distances will have different delivery fee.The formula is as follow:</a:t>
            </a:r>
            <a:endParaRPr sz="1560" dirty="0">
              <a:solidFill>
                <a:srgbClr val="FF0000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zh-TW" sz="1560" dirty="0">
                <a:solidFill>
                  <a:srgbClr val="FF0000"/>
                </a:solidFill>
              </a:rPr>
              <a:t>	</a:t>
            </a:r>
            <a:endParaRPr sz="1280" dirty="0">
              <a:solidFill>
                <a:srgbClr val="0000FF"/>
              </a:solidFill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zh-TW" sz="1500" dirty="0">
                <a:solidFill>
                  <a:srgbClr val="0000FF"/>
                </a:solidFill>
              </a:rPr>
              <a:t>(the value of x and y</a:t>
            </a:r>
            <a:r>
              <a:rPr lang="zh-TW" sz="1500" dirty="0">
                <a:solidFill>
                  <a:srgbClr val="FF0000"/>
                </a:solidFill>
              </a:rPr>
              <a:t> </a:t>
            </a:r>
            <a:r>
              <a:rPr lang="zh-TW" sz="1500" dirty="0">
                <a:solidFill>
                  <a:srgbClr val="0000FF"/>
                </a:solidFill>
              </a:rPr>
              <a:t>is between 1 and 100)</a:t>
            </a:r>
            <a:endParaRPr sz="1500" dirty="0">
              <a:solidFill>
                <a:srgbClr val="0000FF"/>
              </a:solidFill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zh-TW" sz="1280" dirty="0">
                <a:solidFill>
                  <a:srgbClr val="0000FF"/>
                </a:solidFill>
              </a:rPr>
              <a:t>distance &lt; =5 : 15 NTD   </a:t>
            </a:r>
            <a:endParaRPr sz="1280" dirty="0">
              <a:solidFill>
                <a:srgbClr val="0000FF"/>
              </a:solidFill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zh-TW" sz="1280" dirty="0">
                <a:solidFill>
                  <a:srgbClr val="0000FF"/>
                </a:solidFill>
              </a:rPr>
              <a:t>5 &lt; distance &lt; =10 : 20 NTD</a:t>
            </a:r>
            <a:endParaRPr sz="1280" dirty="0">
              <a:solidFill>
                <a:srgbClr val="0000FF"/>
              </a:solidFill>
            </a:endParaRPr>
          </a:p>
          <a:p>
            <a:pPr marL="45720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zh-TW" sz="1280" dirty="0">
                <a:solidFill>
                  <a:srgbClr val="0000FF"/>
                </a:solidFill>
              </a:rPr>
              <a:t>10 &lt; distance &lt;= 20 : 30 NTD </a:t>
            </a:r>
            <a:endParaRPr sz="1280" dirty="0">
              <a:solidFill>
                <a:srgbClr val="0000FF"/>
              </a:solidFill>
            </a:endParaRPr>
          </a:p>
          <a:p>
            <a:pPr marL="457200" lvl="0" indent="-32766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560"/>
              <a:buChar char="●"/>
            </a:pPr>
            <a:r>
              <a:rPr lang="zh-TW" sz="1560" dirty="0">
                <a:solidFill>
                  <a:srgbClr val="434343"/>
                </a:solidFill>
              </a:rPr>
              <a:t>System must check whether the store is open before ordering and before sending the order</a:t>
            </a:r>
            <a:endParaRPr sz="1560" dirty="0">
              <a:solidFill>
                <a:srgbClr val="434343"/>
              </a:solidFill>
            </a:endParaRPr>
          </a:p>
          <a:p>
            <a:pPr marL="457200" lvl="0" indent="-3276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60"/>
              <a:buChar char="●"/>
            </a:pPr>
            <a:r>
              <a:rPr lang="zh-TW" sz="1560" dirty="0">
                <a:solidFill>
                  <a:srgbClr val="434343"/>
                </a:solidFill>
              </a:rPr>
              <a:t>the order has four status: order established, meals preparing, delivering, meal served</a:t>
            </a:r>
            <a:endParaRPr sz="1560" dirty="0">
              <a:solidFill>
                <a:srgbClr val="434343"/>
              </a:solidFill>
            </a:endParaRPr>
          </a:p>
          <a:p>
            <a:pPr marL="457200" lvl="0" indent="-3276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60"/>
              <a:buChar char="●"/>
            </a:pPr>
            <a:r>
              <a:rPr lang="zh-TW" sz="1560" dirty="0">
                <a:solidFill>
                  <a:srgbClr val="434343"/>
                </a:solidFill>
              </a:rPr>
              <a:t>The coupons provided by our platform are limited for a period of time. Members only need to enter the promotion code to use, note that </a:t>
            </a:r>
            <a:r>
              <a:rPr lang="zh-TW" sz="1560" dirty="0">
                <a:solidFill>
                  <a:srgbClr val="FF0000"/>
                </a:solidFill>
              </a:rPr>
              <a:t>each member can only use one kind of coupons once.</a:t>
            </a:r>
            <a:r>
              <a:rPr lang="zh-TW" sz="1560" dirty="0">
                <a:solidFill>
                  <a:srgbClr val="434343"/>
                </a:solidFill>
              </a:rPr>
              <a:t> The content of the coupons are 30 NTD off.</a:t>
            </a:r>
            <a:endParaRPr sz="1560" dirty="0">
              <a:solidFill>
                <a:srgbClr val="434343"/>
              </a:solidFill>
            </a:endParaRPr>
          </a:p>
          <a:p>
            <a:pPr marL="457200" lvl="0" indent="-3276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60"/>
              <a:buChar char="●"/>
            </a:pPr>
            <a:r>
              <a:rPr lang="zh-TW" sz="1560" dirty="0">
                <a:solidFill>
                  <a:srgbClr val="434343"/>
                </a:solidFill>
              </a:rPr>
              <a:t>This delivery platform does not provide customer service</a:t>
            </a:r>
            <a:endParaRPr sz="1560" dirty="0">
              <a:solidFill>
                <a:srgbClr val="434343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260" dirty="0">
              <a:solidFill>
                <a:srgbClr val="434343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l="34998" t="25093" r="39056" b="71591"/>
          <a:stretch/>
        </p:blipFill>
        <p:spPr>
          <a:xfrm>
            <a:off x="2827050" y="1592000"/>
            <a:ext cx="4840075" cy="3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Entities </a:t>
            </a:r>
            <a:endParaRPr b="1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User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User_credential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Restaurant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Meals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Deliveryman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Ordered-details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Order</a:t>
            </a:r>
            <a:endParaRPr sz="2000">
              <a:solidFill>
                <a:srgbClr val="434343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zh-TW" sz="2000">
                <a:solidFill>
                  <a:srgbClr val="434343"/>
                </a:solidFill>
              </a:rPr>
              <a:t>Coupon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Flow Chart</a:t>
            </a:r>
            <a:endParaRPr b="1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084" y="0"/>
            <a:ext cx="483603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Business logics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 user is associateted with one user account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Users must login to create orders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The delivery range is within 20 distances from the user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Orders can only be created when the restaurant’s business shows the open status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An order can only order meals from the same restaurant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 user can place many orders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An order can include many meals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An order can have only one order id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Different restaurants can sell the same meal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 meal is associated with one price at any given time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 meal in an order can be ordered in multiple quantities </a:t>
            </a:r>
            <a:endParaRPr sz="16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530" dirty="0"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Business logics</a:t>
            </a:r>
            <a:endParaRPr dirty="0"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Update order status can only be updated forward instead of backward </a:t>
            </a:r>
            <a:endParaRPr sz="1600" dirty="0"/>
          </a:p>
          <a:p>
            <a:pPr marL="45720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/>
              <a:t>ex. update status 1 to 2 but cannot update status 2 to 1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The order can only be deleted when the order status is 1.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 kind of coupons can only be used once by each member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Coupon can only be used within the time specified by the coupon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An order can only use one coupon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The coupon can only be used if the order amount is greater than the coupon amount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Each user can comment its completed orders</a:t>
            </a:r>
            <a:endParaRPr sz="1600" dirty="0"/>
          </a:p>
          <a:p>
            <a:pPr marL="457200" lvl="0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dirty="0"/>
              <a:t>There are two types of comment: the comment on the restaurant and the comment on the deliveryman</a:t>
            </a:r>
            <a:endParaRPr sz="160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530" dirty="0"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426</Words>
  <Application>Microsoft Office PowerPoint</Application>
  <PresentationFormat>如螢幕大小 (16:9)</PresentationFormat>
  <Paragraphs>66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PowerPoint 簡報</vt:lpstr>
      <vt:lpstr>DB_Final_Project</vt:lpstr>
      <vt:lpstr>Scenario </vt:lpstr>
      <vt:lpstr>Scenario</vt:lpstr>
      <vt:lpstr>Entities </vt:lpstr>
      <vt:lpstr>Flow Chart</vt:lpstr>
      <vt:lpstr>Business logics</vt:lpstr>
      <vt:lpstr>Business logics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aa</cp:lastModifiedBy>
  <cp:revision>5</cp:revision>
  <dcterms:modified xsi:type="dcterms:W3CDTF">2021-06-03T15:07:15Z</dcterms:modified>
</cp:coreProperties>
</file>